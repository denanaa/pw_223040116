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2" r:id="rId6"/>
    <p:sldId id="263" r:id="rId7"/>
    <p:sldId id="261" r:id="rId8"/>
    <p:sldId id="260" r:id="rId9"/>
    <p:sldId id="265" r:id="rId10"/>
    <p:sldId id="266" r:id="rId11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lear Sans Regular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70" autoAdjust="0"/>
    <p:restoredTop sz="94650" autoAdjust="0"/>
  </p:normalViewPr>
  <p:slideViewPr>
    <p:cSldViewPr>
      <p:cViewPr varScale="1">
        <p:scale>
          <a:sx n="52" d="100"/>
          <a:sy n="52" d="100"/>
        </p:scale>
        <p:origin x="33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EBC77-D727-AD42-BF54-F13CC9107FB4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DE37D-E19F-3642-8297-1D73E1B82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68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DE37D-E19F-3642-8297-1D73E1B82B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68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DE37D-E19F-3642-8297-1D73E1B82B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1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DE37D-E19F-3642-8297-1D73E1B82B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33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6.svg"/><Relationship Id="rId4" Type="http://schemas.openxmlformats.org/officeDocument/2006/relationships/image" Target="../media/image20.sv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6.svg"/><Relationship Id="rId4" Type="http://schemas.openxmlformats.org/officeDocument/2006/relationships/image" Target="../media/image20.sv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144000" y="3350979"/>
            <a:ext cx="8217084" cy="4103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8000">
                <a:solidFill>
                  <a:srgbClr val="F7B4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ORGANISASI DAN ETIKA PROFESI </a:t>
            </a:r>
            <a:r>
              <a:rPr lang="en-US" sz="8000" dirty="0">
                <a:solidFill>
                  <a:srgbClr val="F7B4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DALAM BIDANG IT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2834" y="-1921745"/>
            <a:ext cx="6755642" cy="411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6303834" y="1790711"/>
            <a:ext cx="1194327" cy="258614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 flipH="1">
            <a:off x="2095190" y="2021154"/>
            <a:ext cx="5357753" cy="5591583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-947148" y="1264426"/>
            <a:ext cx="3144039" cy="2440918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624872" y="5005800"/>
            <a:ext cx="1894295" cy="42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4011803" y="7612736"/>
            <a:ext cx="348635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9758" y="1817226"/>
            <a:ext cx="6060519" cy="6652549"/>
            <a:chOff x="0" y="0"/>
            <a:chExt cx="8080692" cy="887006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5166060" cy="6830128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1428290" y="1054304"/>
              <a:ext cx="5166060" cy="6830128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2914631" y="2039937"/>
              <a:ext cx="5166060" cy="6830128"/>
            </a:xfrm>
            <a:prstGeom prst="rect">
              <a:avLst/>
            </a:prstGeom>
          </p:spPr>
        </p:pic>
      </p:grp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908185"/>
              </p:ext>
            </p:extLst>
          </p:nvPr>
        </p:nvGraphicFramePr>
        <p:xfrm>
          <a:off x="8485031" y="1257301"/>
          <a:ext cx="9042799" cy="6425757"/>
        </p:xfrm>
        <a:graphic>
          <a:graphicData uri="http://schemas.openxmlformats.org/drawingml/2006/table">
            <a:tbl>
              <a:tblPr/>
              <a:tblGrid>
                <a:gridCol w="9042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1250">
                <a:tc>
                  <a:txBody>
                    <a:bodyPr/>
                    <a:lstStyle/>
                    <a:p>
                      <a:pPr algn="l">
                        <a:lnSpc>
                          <a:spcPts val="11340"/>
                        </a:lnSpc>
                        <a:defRPr/>
                      </a:pPr>
                      <a:endParaRPr lang="en-US" sz="8100" dirty="0">
                        <a:solidFill>
                          <a:srgbClr val="F7B4A7"/>
                        </a:solidFill>
                        <a:latin typeface="Clear Sans Bold Bold"/>
                      </a:endParaRPr>
                    </a:p>
                    <a:p>
                      <a:pPr algn="l">
                        <a:lnSpc>
                          <a:spcPts val="11340"/>
                        </a:lnSpc>
                        <a:defRPr/>
                      </a:pPr>
                      <a:r>
                        <a:rPr lang="en-US" sz="8100" dirty="0">
                          <a:solidFill>
                            <a:srgbClr val="F7B4A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Agenda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33">
                <a:tc>
                  <a:txBody>
                    <a:bodyPr/>
                    <a:lstStyle/>
                    <a:p>
                      <a:pPr algn="l">
                        <a:lnSpc>
                          <a:spcPts val="4060"/>
                        </a:lnSpc>
                        <a:defRPr/>
                      </a:pPr>
                      <a:endParaRPr lang="en-US" sz="2900" dirty="0">
                        <a:solidFill>
                          <a:srgbClr val="94DDDE"/>
                        </a:solidFill>
                        <a:latin typeface="Clear Sans Regular"/>
                      </a:endParaRPr>
                    </a:p>
                  </a:txBody>
                  <a:tcPr marL="190500" marR="190500" marT="190500" marB="190500" anchor="ctr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117">
                <a:tc>
                  <a:txBody>
                    <a:bodyPr/>
                    <a:lstStyle/>
                    <a:p>
                      <a:pPr marL="626111" lvl="1" indent="-313055">
                        <a:lnSpc>
                          <a:spcPts val="4060"/>
                        </a:lnSpc>
                        <a:buFont typeface="Arial"/>
                        <a:buChar char="•"/>
                      </a:pPr>
                      <a:r>
                        <a:rPr lang="en-US" sz="2900" dirty="0">
                          <a:solidFill>
                            <a:srgbClr val="94DDDE"/>
                          </a:solidFill>
                          <a:latin typeface="+mj-lt"/>
                        </a:rPr>
                        <a:t>Lembaga </a:t>
                      </a:r>
                      <a:r>
                        <a:rPr lang="en-US" sz="2900" dirty="0" err="1">
                          <a:solidFill>
                            <a:srgbClr val="94DDDE"/>
                          </a:solidFill>
                          <a:latin typeface="+mj-lt"/>
                        </a:rPr>
                        <a:t>atau</a:t>
                      </a:r>
                      <a:r>
                        <a:rPr lang="en-US" sz="2900" dirty="0">
                          <a:solidFill>
                            <a:srgbClr val="94DDDE"/>
                          </a:solidFill>
                          <a:latin typeface="+mj-lt"/>
                        </a:rPr>
                        <a:t> </a:t>
                      </a:r>
                      <a:r>
                        <a:rPr lang="en-US" sz="2900" dirty="0" err="1">
                          <a:solidFill>
                            <a:srgbClr val="94DDDE"/>
                          </a:solidFill>
                          <a:latin typeface="+mj-lt"/>
                        </a:rPr>
                        <a:t>organisasi</a:t>
                      </a:r>
                      <a:r>
                        <a:rPr lang="en-US" sz="2900" dirty="0">
                          <a:solidFill>
                            <a:srgbClr val="94DDDE"/>
                          </a:solidFill>
                          <a:latin typeface="+mj-lt"/>
                        </a:rPr>
                        <a:t>  yang </a:t>
                      </a:r>
                      <a:r>
                        <a:rPr lang="en-US" sz="2900" dirty="0" err="1">
                          <a:solidFill>
                            <a:srgbClr val="94DDDE"/>
                          </a:solidFill>
                          <a:latin typeface="+mj-lt"/>
                        </a:rPr>
                        <a:t>menaungi</a:t>
                      </a:r>
                      <a:r>
                        <a:rPr lang="en-US" sz="2900" dirty="0">
                          <a:solidFill>
                            <a:srgbClr val="94DDDE"/>
                          </a:solidFill>
                          <a:latin typeface="+mj-lt"/>
                        </a:rPr>
                        <a:t> </a:t>
                      </a:r>
                      <a:r>
                        <a:rPr lang="en-US" sz="2900" dirty="0" err="1">
                          <a:solidFill>
                            <a:srgbClr val="94DDDE"/>
                          </a:solidFill>
                          <a:latin typeface="+mj-lt"/>
                        </a:rPr>
                        <a:t>profesi</a:t>
                      </a:r>
                      <a:r>
                        <a:rPr lang="en-US" sz="2900" dirty="0">
                          <a:solidFill>
                            <a:srgbClr val="94DDDE"/>
                          </a:solidFill>
                          <a:latin typeface="+mj-lt"/>
                        </a:rPr>
                        <a:t> </a:t>
                      </a:r>
                      <a:r>
                        <a:rPr lang="en-US" sz="2900" dirty="0" err="1">
                          <a:solidFill>
                            <a:srgbClr val="94DDDE"/>
                          </a:solidFill>
                          <a:latin typeface="+mj-lt"/>
                        </a:rPr>
                        <a:t>bidang</a:t>
                      </a:r>
                      <a:r>
                        <a:rPr lang="en-US" sz="2900" dirty="0">
                          <a:solidFill>
                            <a:srgbClr val="94DDDE"/>
                          </a:solidFill>
                          <a:latin typeface="+mj-lt"/>
                        </a:rPr>
                        <a:t> IT </a:t>
                      </a:r>
                    </a:p>
                    <a:p>
                      <a:pPr marL="626111" lvl="1" indent="-313055">
                        <a:lnSpc>
                          <a:spcPts val="4060"/>
                        </a:lnSpc>
                        <a:buFont typeface="Arial"/>
                        <a:buChar char="•"/>
                      </a:pPr>
                      <a:r>
                        <a:rPr lang="en-US" sz="2900" dirty="0" err="1">
                          <a:solidFill>
                            <a:srgbClr val="94DDDE"/>
                          </a:solidFill>
                          <a:latin typeface="+mj-lt"/>
                        </a:rPr>
                        <a:t>Tugas</a:t>
                      </a:r>
                      <a:r>
                        <a:rPr lang="en-US" sz="2900" dirty="0">
                          <a:solidFill>
                            <a:srgbClr val="94DDDE"/>
                          </a:solidFill>
                          <a:latin typeface="+mj-lt"/>
                        </a:rPr>
                        <a:t> </a:t>
                      </a:r>
                      <a:r>
                        <a:rPr lang="en-US" sz="2900" dirty="0" err="1">
                          <a:solidFill>
                            <a:srgbClr val="94DDDE"/>
                          </a:solidFill>
                          <a:latin typeface="+mj-lt"/>
                        </a:rPr>
                        <a:t>organisasi</a:t>
                      </a:r>
                      <a:r>
                        <a:rPr lang="en-US" sz="2900" dirty="0">
                          <a:solidFill>
                            <a:srgbClr val="94DDDE"/>
                          </a:solidFill>
                          <a:latin typeface="+mj-lt"/>
                        </a:rPr>
                        <a:t> </a:t>
                      </a:r>
                      <a:r>
                        <a:rPr lang="en-US" sz="2900" dirty="0" err="1">
                          <a:solidFill>
                            <a:srgbClr val="94DDDE"/>
                          </a:solidFill>
                          <a:latin typeface="+mj-lt"/>
                        </a:rPr>
                        <a:t>dalam</a:t>
                      </a:r>
                      <a:r>
                        <a:rPr lang="en-US" sz="2900" dirty="0">
                          <a:solidFill>
                            <a:srgbClr val="94DDDE"/>
                          </a:solidFill>
                          <a:latin typeface="+mj-lt"/>
                        </a:rPr>
                        <a:t> IT</a:t>
                      </a:r>
                    </a:p>
                    <a:p>
                      <a:pPr marL="626111" marR="0" lvl="1" indent="-313055" algn="l" defTabSz="914400" rtl="0" eaLnBrk="1" fontAlgn="auto" latinLnBrk="0" hangingPunct="1">
                        <a:lnSpc>
                          <a:spcPts val="40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sz="2900" dirty="0">
                          <a:solidFill>
                            <a:srgbClr val="94DDDE"/>
                          </a:solidFill>
                          <a:latin typeface="+mj-lt"/>
                        </a:rPr>
                        <a:t>Cara </a:t>
                      </a:r>
                      <a:r>
                        <a:rPr lang="en-US" sz="2900" dirty="0" err="1">
                          <a:solidFill>
                            <a:srgbClr val="94DDDE"/>
                          </a:solidFill>
                          <a:latin typeface="+mj-lt"/>
                        </a:rPr>
                        <a:t>beretika</a:t>
                      </a:r>
                      <a:r>
                        <a:rPr lang="en-US" sz="2900" dirty="0">
                          <a:solidFill>
                            <a:srgbClr val="94DDDE"/>
                          </a:solidFill>
                          <a:latin typeface="+mj-lt"/>
                        </a:rPr>
                        <a:t> di </a:t>
                      </a:r>
                      <a:r>
                        <a:rPr lang="en-US" sz="2900" dirty="0" err="1">
                          <a:solidFill>
                            <a:srgbClr val="94DDDE"/>
                          </a:solidFill>
                          <a:latin typeface="+mj-lt"/>
                        </a:rPr>
                        <a:t>bidang</a:t>
                      </a:r>
                      <a:r>
                        <a:rPr lang="en-US" sz="2900" dirty="0">
                          <a:solidFill>
                            <a:srgbClr val="94DDDE"/>
                          </a:solidFill>
                          <a:latin typeface="+mj-lt"/>
                        </a:rPr>
                        <a:t> IT</a:t>
                      </a:r>
                    </a:p>
                  </a:txBody>
                  <a:tcPr marL="190500" marR="190500" marT="190500" marB="190500" anchor="ctr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55666" y="0"/>
            <a:ext cx="4597438" cy="284205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flipH="1">
            <a:off x="11289031" y="1181100"/>
            <a:ext cx="2076668" cy="127620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3849962" y="0"/>
            <a:ext cx="3837986" cy="4114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5527226" y="-2601228"/>
            <a:ext cx="5357753" cy="5591583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303711"/>
              </p:ext>
            </p:extLst>
          </p:nvPr>
        </p:nvGraphicFramePr>
        <p:xfrm>
          <a:off x="1028700" y="194564"/>
          <a:ext cx="16230600" cy="9897871"/>
        </p:xfrm>
        <a:graphic>
          <a:graphicData uri="http://schemas.openxmlformats.org/drawingml/2006/table">
            <a:tbl>
              <a:tblPr/>
              <a:tblGrid>
                <a:gridCol w="811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979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6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South East Asia Regional Computer </a:t>
                      </a:r>
                      <a:r>
                        <a:rPr lang="en-US" sz="28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Confideration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(SEARCC)</a:t>
                      </a:r>
                    </a:p>
                  </a:txBody>
                  <a:tcPr marL="190500" marR="190500" marT="190500" marB="190500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6720"/>
                        </a:lnSpc>
                        <a:defRPr/>
                      </a:pPr>
                      <a:r>
                        <a:rPr lang="en-US" sz="28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Kemendikbud-Ristek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7668">
                <a:tc>
                  <a:txBody>
                    <a:bodyPr/>
                    <a:lstStyle/>
                    <a:p>
                      <a:pPr marL="259080" marR="0" lvl="1" indent="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Merupakan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himpunan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professional IT di Asia Tenggara.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Dibentuk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</a:rPr>
                        <a:t>pada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+mn-lt"/>
                        </a:rPr>
                        <a:t>bulan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+mn-lt"/>
                        </a:rPr>
                        <a:t>februari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+mn-lt"/>
                        </a:rPr>
                        <a:t>tahun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</a:rPr>
                        <a:t> 1978 di Negara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+mn-lt"/>
                        </a:rPr>
                        <a:t>Singapure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</a:rPr>
                        <a:t>oleh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+mn-lt"/>
                        </a:rPr>
                        <a:t>enam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+mn-lt"/>
                        </a:rPr>
                        <a:t>ikatan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</a:rPr>
                        <a:t> computer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+mn-lt"/>
                        </a:rPr>
                        <a:t>dari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</a:rPr>
                        <a:t> Negara Hong Kong, Indonesia, Malaysia,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+mn-lt"/>
                        </a:rPr>
                        <a:t>Philipina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</a:rPr>
                        <a:t>, Singapore dan Thailan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d. </a:t>
                      </a:r>
                    </a:p>
                    <a:p>
                      <a:pPr marL="259080" marR="0" lvl="1" indent="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SEARCC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mengadakan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konferensi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dua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kali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dalam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setahun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di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tiap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anggotanya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secara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bergilir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. Salah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satu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kegiatannya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adalah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SRIG-PS(Special Regional Interest Group on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Profesional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Standardisation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) yang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merumuskan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standarisasi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pekerjaan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di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dalam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dunia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Teknologi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Informasi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259080" marR="0" lvl="1" indent="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Hasil yang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diberikan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oleh SRIG-PS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diantaranya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:</a:t>
                      </a:r>
                    </a:p>
                    <a:p>
                      <a:pPr marL="544830" marR="0" lvl="1" indent="-28575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Adanya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kode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etik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untuk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professional IT</a:t>
                      </a:r>
                    </a:p>
                    <a:p>
                      <a:pPr marL="544830" marR="0" lvl="1" indent="-28575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Klasifikasi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pekerjaan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dibidang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IT</a:t>
                      </a:r>
                    </a:p>
                    <a:p>
                      <a:pPr marL="544830" marR="0" lvl="1" indent="-28575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Panduan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metoda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dalam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sertifikasi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IT</a:t>
                      </a:r>
                    </a:p>
                    <a:p>
                      <a:pPr marL="544830" marR="0" lvl="1" indent="-28575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Promosi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program SRIG-PS di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setiap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anggotanya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259080" marR="0" lvl="1" indent="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rgbClr val="2B4B82"/>
                        </a:solidFill>
                        <a:latin typeface="Clear Sans Regular"/>
                      </a:endParaRPr>
                    </a:p>
                    <a:p>
                      <a:pPr marL="259080" marR="0" lvl="1" indent="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rgbClr val="2B4B82"/>
                        </a:solidFill>
                        <a:latin typeface="Clear Sans Regular"/>
                      </a:endParaRPr>
                    </a:p>
                  </a:txBody>
                  <a:tcPr marL="190500" marR="190500" marT="190500" marB="190500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9080" lvl="1" indent="0" algn="l">
                        <a:lnSpc>
                          <a:spcPts val="3359"/>
                        </a:lnSpc>
                        <a:buFont typeface="Arial"/>
                        <a:buNone/>
                        <a:defRPr/>
                      </a:pP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KEMENBUDRIS-TEK(Kementerian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Budaya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Riset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,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Teknologi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pendidikan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tinggi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)</a:t>
                      </a:r>
                      <a:b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</a:b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Merupakan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Gabungan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dari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kemenristek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kemenbud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 yang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disatukan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olah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Nadiem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Makarim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Pada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tahun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2014,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nomenklatur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Kementerian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Riset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Teknologi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kembali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berubah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menjadi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Kementerian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Riset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Teknologi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, dan Pendidikan Tinggi.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Perubahan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ini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merupakan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konsekuensi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dari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penggabungan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Direktorat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Jenderal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Pendidikan Tinggi yang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sebelumnya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berada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di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bawah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Kementerian Pendidikan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Kebudayaan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kementerian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ini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.  </a:t>
                      </a:r>
                    </a:p>
                    <a:p>
                      <a:pPr marL="259080" marR="0" lvl="1" indent="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Lima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tahun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kemudian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pada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tahun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2019,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tanggung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jawab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bidang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pendidikan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tinggi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kembali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dikembalikan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Kementerian Pendidikan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Kebudayaan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sehingga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kementerian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ini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berubah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kembali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menjadi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Kementerian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Riset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Teknologi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(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Kemenris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-Tek).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Selain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itu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presiden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membentuk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Badan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Riset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Inovasi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Nasional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dipimpin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oleh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Menristek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(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Mentri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riset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teknologi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).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Saat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perombakan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kedua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Kabinet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Indonesia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Maju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pada 28 April 2021, Kementerian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Riset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Teknologi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digabungkan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Kementerian Pendidikan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Kebudayaan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menjadi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Kementerian Pendidikan,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Kebudayaan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Riset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Teknologi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 (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</a:rPr>
                        <a:t>Kemendikbud-Ristek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</a:rPr>
                        <a:t>) </a:t>
                      </a:r>
                    </a:p>
                    <a:p>
                      <a:pPr marL="259080" lvl="1" indent="0" algn="l">
                        <a:lnSpc>
                          <a:spcPts val="3359"/>
                        </a:lnSpc>
                        <a:buFont typeface="Arial"/>
                        <a:buNone/>
                        <a:defRPr/>
                      </a:pPr>
                      <a:endParaRPr lang="en-US" sz="2400" dirty="0">
                        <a:solidFill>
                          <a:srgbClr val="2B4B82"/>
                        </a:solidFill>
                        <a:latin typeface="Clear Sans Regular"/>
                      </a:endParaRPr>
                    </a:p>
                  </a:txBody>
                  <a:tcPr marL="190500" marR="190500" marT="190500" marB="190500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0779" y="0"/>
            <a:ext cx="11367221" cy="10287000"/>
            <a:chOff x="0" y="0"/>
            <a:chExt cx="29938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93836" cy="2709333"/>
            </a:xfrm>
            <a:custGeom>
              <a:avLst/>
              <a:gdLst/>
              <a:ahLst/>
              <a:cxnLst/>
              <a:rect l="l" t="t" r="r" b="b"/>
              <a:pathLst>
                <a:path w="2993836" h="2709333">
                  <a:moveTo>
                    <a:pt x="0" y="0"/>
                  </a:moveTo>
                  <a:lnTo>
                    <a:pt x="2993836" y="0"/>
                  </a:lnTo>
                  <a:lnTo>
                    <a:pt x="29938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B4B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62000" y="3854685"/>
            <a:ext cx="4880374" cy="257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</a:pPr>
            <a:r>
              <a:rPr lang="en-US" sz="6600" dirty="0" err="1">
                <a:solidFill>
                  <a:srgbClr val="2B4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Tugas-tugas</a:t>
            </a:r>
            <a:r>
              <a:rPr lang="en-US" sz="6600" dirty="0">
                <a:solidFill>
                  <a:srgbClr val="2B4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rgbClr val="2B4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Kemendikbud-Ristek</a:t>
            </a:r>
            <a:r>
              <a:rPr lang="en-US" sz="6600" dirty="0">
                <a:solidFill>
                  <a:srgbClr val="2B4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rgbClr val="2B4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6600" dirty="0">
                <a:solidFill>
                  <a:srgbClr val="2B4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908535"/>
              </p:ext>
            </p:extLst>
          </p:nvPr>
        </p:nvGraphicFramePr>
        <p:xfrm>
          <a:off x="7391400" y="495300"/>
          <a:ext cx="9867900" cy="11273593"/>
        </p:xfrm>
        <a:graphic>
          <a:graphicData uri="http://schemas.openxmlformats.org/drawingml/2006/table">
            <a:tbl>
              <a:tblPr/>
              <a:tblGrid>
                <a:gridCol w="986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87791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mempunyai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tugas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menyelenggarakan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urusan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pemerintahan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di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bidang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riset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pendidikan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tinggi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untuk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membantu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Presiden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dalam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menyelenggarakan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pemerintahan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negara.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791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Perumusan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penetapan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pelaksanaan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kebijakan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di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bidang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standar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kualitas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sistem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pembelajaran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lembaga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pendidikan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tinggi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sumber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daya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manusia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serta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sarana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prasarana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pendidikan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tinggi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keterjangkauan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layanan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pendidikan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tinggi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7791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Perumusan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penetapan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kebijakan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di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bidang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standar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kualitas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lembaga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penelitian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sumber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daya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manusia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sarana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prasarana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riset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penguatan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inovasi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riset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serta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pengembangan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penguasaan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alih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penguatan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kemampuan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audit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perlindungan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hak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kekayaan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intelektual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percepatan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penguasaan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pemanfaatan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pemajuan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riset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. 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7791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Koordinasi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sinkronisasi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pelaksanaan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kebijakan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di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bidang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kelembagaan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sumber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daya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penguatan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riset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pengembangan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serta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penguatan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inovasi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ilmu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pengetahuan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. </a:t>
                      </a:r>
                      <a:endParaRPr lang="en-US" sz="11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7446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ts val="3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Pemberian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izin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tertulis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kegiatan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penelitian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pengembangan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oleh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perguruan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tinggi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asing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lembaga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penelitian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pengembangan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asing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badan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usaha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asing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, dan orang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asing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di wilayah negara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kesatuan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republik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+mn-lt"/>
                          <a:cs typeface="Calibri" panose="020F0502020204030204" pitchFamily="34" charset="0"/>
                        </a:rPr>
                        <a:t> Indonesia. 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7791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endParaRPr lang="en-US" sz="2300" dirty="0">
                        <a:solidFill>
                          <a:srgbClr val="FEFEFE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0779" y="0"/>
            <a:ext cx="11367221" cy="10287000"/>
            <a:chOff x="0" y="0"/>
            <a:chExt cx="29938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93836" cy="2709333"/>
            </a:xfrm>
            <a:custGeom>
              <a:avLst/>
              <a:gdLst/>
              <a:ahLst/>
              <a:cxnLst/>
              <a:rect l="l" t="t" r="r" b="b"/>
              <a:pathLst>
                <a:path w="2993836" h="2709333">
                  <a:moveTo>
                    <a:pt x="0" y="0"/>
                  </a:moveTo>
                  <a:lnTo>
                    <a:pt x="2993836" y="0"/>
                  </a:lnTo>
                  <a:lnTo>
                    <a:pt x="29938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B4B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6616" y="3695700"/>
            <a:ext cx="4863379" cy="2577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</a:pPr>
            <a:r>
              <a:rPr lang="en-US" sz="6600" dirty="0" err="1">
                <a:solidFill>
                  <a:srgbClr val="2B4B8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Tugas-tugas</a:t>
            </a:r>
            <a:r>
              <a:rPr lang="en-US" sz="6600" dirty="0">
                <a:solidFill>
                  <a:srgbClr val="2B4B8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rgbClr val="2B4B8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Kemendikbud-Ristek</a:t>
            </a:r>
            <a:r>
              <a:rPr lang="en-US" sz="6600" dirty="0">
                <a:solidFill>
                  <a:srgbClr val="2B4B8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rgbClr val="2B4B8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adalah</a:t>
            </a:r>
            <a:r>
              <a:rPr lang="en-US" sz="6600" dirty="0">
                <a:solidFill>
                  <a:srgbClr val="2B4B8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095438"/>
              </p:ext>
            </p:extLst>
          </p:nvPr>
        </p:nvGraphicFramePr>
        <p:xfrm>
          <a:off x="7391400" y="1104900"/>
          <a:ext cx="9867900" cy="8369731"/>
        </p:xfrm>
        <a:graphic>
          <a:graphicData uri="http://schemas.openxmlformats.org/drawingml/2006/table">
            <a:tbl>
              <a:tblPr/>
              <a:tblGrid>
                <a:gridCol w="986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76771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Pemberian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izin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tertulis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kegiatan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penelitian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pengembangan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terapan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ilmu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pengetahuan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yang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berisiko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tinggi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berbahaya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sesuai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dengan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ketentuan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peraturan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perundang-undangan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771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Koordinasi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pelaksanaan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tugas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pembinaan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pemberian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dukungan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administrasi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kepada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seluruh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unsur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organisasi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di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lingkungan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kementerian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riset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pendidikan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tinggi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2709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Pengelolaan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barang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milik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kekayaan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negara yang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menjadi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tanggung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jawab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kementerian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riset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pendidikan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tinggi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0834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Pengawasan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atas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pelaksanaan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tugas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di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lingkungan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kementerian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riset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pendidikan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tinggi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Pelaksanaan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dukungan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substantif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kepada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seluruh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unsur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organisasi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di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lingkungan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kementerian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riset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dan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pendidikan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3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tinggi</a:t>
                      </a:r>
                      <a:r>
                        <a:rPr lang="en-US" sz="23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4000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ts val="3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300" dirty="0">
                        <a:solidFill>
                          <a:srgbClr val="FEFEFE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8646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endParaRPr lang="en-US" sz="2300" dirty="0">
                        <a:solidFill>
                          <a:srgbClr val="FEFEFE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86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55666" y="0"/>
            <a:ext cx="4597438" cy="284205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flipH="1">
            <a:off x="11289031" y="1181100"/>
            <a:ext cx="2076668" cy="127620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3849962" y="0"/>
            <a:ext cx="3837986" cy="4114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5502630" y="-1973459"/>
            <a:ext cx="5357753" cy="5591583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609339"/>
              </p:ext>
            </p:extLst>
          </p:nvPr>
        </p:nvGraphicFramePr>
        <p:xfrm>
          <a:off x="1028700" y="1028701"/>
          <a:ext cx="16230600" cy="9065233"/>
        </p:xfrm>
        <a:graphic>
          <a:graphicData uri="http://schemas.openxmlformats.org/drawingml/2006/table">
            <a:tbl>
              <a:tblPr/>
              <a:tblGrid>
                <a:gridCol w="811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014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6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Etika </a:t>
                      </a:r>
                      <a:r>
                        <a:rPr lang="en-US" sz="48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Profesi</a:t>
                      </a:r>
                      <a:r>
                        <a:rPr lang="en-US" sz="4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190500" marR="190500" marT="190500" marB="190500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720"/>
                        </a:lnSpc>
                        <a:defRPr/>
                      </a:pPr>
                      <a:r>
                        <a:rPr lang="en-US" sz="4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Etika </a:t>
                      </a:r>
                      <a:r>
                        <a:rPr lang="en-US" sz="48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Profesi</a:t>
                      </a:r>
                      <a:r>
                        <a:rPr lang="en-US" sz="4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IT</a:t>
                      </a:r>
                    </a:p>
                  </a:txBody>
                  <a:tcPr marL="190500" marR="190500" marT="190500" marB="190500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1455">
                <a:tc>
                  <a:txBody>
                    <a:bodyPr/>
                    <a:lstStyle/>
                    <a:p>
                      <a:pPr marL="259080" marR="0" lvl="1" indent="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Etika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profesi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merupakan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pedoman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profesionalisme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bagi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seorang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pekerja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dalam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dunia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kerja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Pedoman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ini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mengatur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cara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berbicara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bertindak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mengambil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keputusan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secara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profesional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selama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bekerja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59080" marR="0" lvl="1" indent="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rgbClr val="2B4B82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259080" marR="0" lvl="1" indent="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Etika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profesi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sama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kode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etik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meskipun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sering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dianggap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sama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. Etika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profesi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berlaku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secara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menyeluruh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semua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profesi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seperti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kode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etik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mengatur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perilaku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anggota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suatu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profesi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contohnya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dokter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pengacara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jurnalis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,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sebagainya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59080" marR="0" lvl="1" indent="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rgbClr val="2B4B82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259080" marR="0" lvl="1" indent="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Pekerja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baik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perlu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mengingat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etika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profesi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agar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bisa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bekerja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secara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profesional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Mereka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juga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perlu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menjaga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sikap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pantas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sesuai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etika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demi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menjalin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hubungan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baik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semua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orang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dalam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suatu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perusahaan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59080" marR="0" lvl="1" indent="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rgbClr val="2B4B8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59080" marR="0" lvl="1" indent="0" algn="l" defTabSz="914400" rtl="0" eaLnBrk="1" fontAlgn="auto" latinLnBrk="0" hangingPunct="1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rgbClr val="2B4B8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59080" lvl="1" indent="0" algn="l">
                        <a:lnSpc>
                          <a:spcPts val="3359"/>
                        </a:lnSpc>
                        <a:buFont typeface="Arial"/>
                        <a:buNone/>
                        <a:defRPr/>
                      </a:pP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Etika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profesi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IT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merupakan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sekumpulan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panduan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atau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aturan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dalam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bertindak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supaya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dapat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menciptakan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profesionalisme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pada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ruang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lingkup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pekerjaan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IT.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Dengan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adanya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etika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profesi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pada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bidang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tersebut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maka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seseorang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bisa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melakukan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tindakan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maupun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mengambil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keputusan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profesional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sekaligus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menjunjung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tinggi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nilai-nilai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moral.</a:t>
                      </a:r>
                    </a:p>
                    <a:p>
                      <a:pPr marL="259080" lvl="1" indent="0" algn="l">
                        <a:lnSpc>
                          <a:spcPts val="3359"/>
                        </a:lnSpc>
                        <a:buFont typeface="Arial"/>
                        <a:buNone/>
                        <a:defRPr/>
                      </a:pPr>
                      <a:endParaRPr lang="en-US" sz="1800" dirty="0">
                        <a:solidFill>
                          <a:srgbClr val="2B4B82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59080" lvl="1" indent="0" algn="l">
                        <a:lnSpc>
                          <a:spcPts val="3359"/>
                        </a:lnSpc>
                        <a:buFont typeface="Arial"/>
                        <a:buNone/>
                        <a:defRPr/>
                      </a:pP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Etika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profesi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informasi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memiliki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beberapa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karakteristik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yang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berbeda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dari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etika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pda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umumnya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Perbedaannya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terletak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pada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peranan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dari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profesi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tersebut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Profesi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pada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bidang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informasi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menitikberatkan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pada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masyarakat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yang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memiliki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pengetahuan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terbatas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mengenai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teknologi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informasi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untuk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percaya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pada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ilmu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pengetahuan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keahlian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kejujuran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pada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profesinya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Profesi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itu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menciptakan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produk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misal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: system computer) yang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dapat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mempengaruhi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masyarakat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luas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produk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tersebut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dapat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memberikan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keuntungan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bagi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masyarakat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Profesi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memiliki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tanggung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jawab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pada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masyarakat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luas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yang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menggunakannya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Tanggung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jawab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meliputi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keamanan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keselamatan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data,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terpercaya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serta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mudah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untuk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digunakan</a:t>
                      </a:r>
                      <a:r>
                        <a:rPr lang="en-US" sz="1800" dirty="0">
                          <a:solidFill>
                            <a:srgbClr val="2B4B82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259080" lvl="1" indent="0" algn="l">
                        <a:lnSpc>
                          <a:spcPts val="3359"/>
                        </a:lnSpc>
                        <a:buFont typeface="Arial"/>
                        <a:buNone/>
                        <a:defRPr/>
                      </a:pPr>
                      <a:endParaRPr lang="en-US" sz="2400" dirty="0">
                        <a:solidFill>
                          <a:srgbClr val="2B4B8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066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876152" y="3086100"/>
            <a:ext cx="5131837" cy="4114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24688" y="2400300"/>
            <a:ext cx="15663112" cy="6835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06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Seorang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programmer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boleh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membuat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mendistribusikan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Malware.</a:t>
            </a:r>
          </a:p>
          <a:p>
            <a:pPr marL="342900" indent="-342900">
              <a:lnSpc>
                <a:spcPts val="406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Seorang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programmer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boleh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menulis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kode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sulit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diikuti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sengaja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lnSpc>
                <a:spcPts val="406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Seorang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programmer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boleh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menulis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dokumentasi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sengaja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lnSpc>
                <a:spcPts val="406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Seorang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programmer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boleh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ulang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kode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hak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cipta</a:t>
            </a:r>
            <a:endParaRPr lang="en-US" sz="3600" dirty="0">
              <a:solidFill>
                <a:srgbClr val="2B4B8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406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boleh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mencari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keuntungan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tambahan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proyek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didanai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pihak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kedua</a:t>
            </a:r>
            <a:endParaRPr lang="en-US" sz="3600" dirty="0">
              <a:solidFill>
                <a:srgbClr val="2B4B8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406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boleh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mencuri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software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khususnya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development tools.</a:t>
            </a:r>
          </a:p>
          <a:p>
            <a:pPr marL="342900" indent="-342900">
              <a:lnSpc>
                <a:spcPts val="406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boleh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menerima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dana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tambahan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berbagai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pihak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eksternal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suatu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proyek</a:t>
            </a:r>
            <a:endParaRPr lang="en-US" sz="3600" dirty="0">
              <a:solidFill>
                <a:srgbClr val="2B4B8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406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boleh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menulis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kode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sengaja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menjatuhkan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kode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programmer lain</a:t>
            </a:r>
          </a:p>
          <a:p>
            <a:pPr marL="342900" indent="-342900">
              <a:lnSpc>
                <a:spcPts val="406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boleh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membeberkan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data-data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penting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karyawan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perusahaan</a:t>
            </a:r>
            <a:r>
              <a:rPr lang="en-US" sz="3600" dirty="0">
                <a:solidFill>
                  <a:srgbClr val="2B4B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lnSpc>
                <a:spcPts val="4060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2B4B8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64D1B283-35BC-21F2-A6FF-695B2A5A2FF6}"/>
              </a:ext>
            </a:extLst>
          </p:cNvPr>
          <p:cNvSpPr txBox="1"/>
          <p:nvPr/>
        </p:nvSpPr>
        <p:spPr>
          <a:xfrm>
            <a:off x="1024689" y="419100"/>
            <a:ext cx="15983300" cy="16725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4800" dirty="0" err="1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US" sz="4800" dirty="0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Etika </a:t>
            </a:r>
            <a:r>
              <a:rPr lang="en-US" sz="4800" dirty="0" err="1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Profesi</a:t>
            </a:r>
            <a:r>
              <a:rPr lang="en-US" sz="4800" dirty="0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4800" dirty="0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bidang</a:t>
            </a:r>
            <a:r>
              <a:rPr lang="en-US" sz="4800" dirty="0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en-US" sz="4800" dirty="0" err="1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4800" dirty="0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Kode </a:t>
            </a:r>
            <a:r>
              <a:rPr lang="en-US" sz="4800" dirty="0" err="1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etik</a:t>
            </a:r>
            <a:r>
              <a:rPr lang="en-US" sz="4800" dirty="0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seorang</a:t>
            </a:r>
            <a:r>
              <a:rPr lang="en-US" sz="4800" dirty="0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programmer </a:t>
            </a:r>
            <a:r>
              <a:rPr lang="en-US" sz="4800" dirty="0" err="1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US" sz="4800" dirty="0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sz="4800" dirty="0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berikut</a:t>
            </a:r>
            <a:r>
              <a:rPr lang="en-US" sz="4800" dirty="0">
                <a:solidFill>
                  <a:srgbClr val="3135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851762" y="1468613"/>
            <a:ext cx="3489749" cy="286159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490793" y="4703587"/>
            <a:ext cx="4618653" cy="4114800"/>
          </a:xfrm>
          <a:prstGeom prst="rect">
            <a:avLst/>
          </a:prstGeom>
        </p:spPr>
      </p:pic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249742"/>
              </p:ext>
            </p:extLst>
          </p:nvPr>
        </p:nvGraphicFramePr>
        <p:xfrm>
          <a:off x="6300773" y="266700"/>
          <a:ext cx="11755565" cy="9592386"/>
        </p:xfrm>
        <a:graphic>
          <a:graphicData uri="http://schemas.openxmlformats.org/drawingml/2006/table">
            <a:tbl>
              <a:tblPr/>
              <a:tblGrid>
                <a:gridCol w="11755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10552">
                <a:tc>
                  <a:txBody>
                    <a:bodyPr/>
                    <a:lstStyle/>
                    <a:p>
                      <a:pPr algn="l">
                        <a:lnSpc>
                          <a:spcPts val="6719"/>
                        </a:lnSpc>
                        <a:defRPr/>
                      </a:pPr>
                      <a:r>
                        <a:rPr lang="en-US" sz="3600" dirty="0" err="1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contoh</a:t>
                      </a:r>
                      <a:r>
                        <a:rPr lang="en-US" sz="3600" dirty="0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Etika </a:t>
                      </a:r>
                      <a:r>
                        <a:rPr lang="en-US" sz="3600" dirty="0" err="1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Profesi</a:t>
                      </a:r>
                      <a:r>
                        <a:rPr lang="en-US" sz="3600" dirty="0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dalam</a:t>
                      </a:r>
                      <a:r>
                        <a:rPr lang="en-US" sz="3600" dirty="0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bidang</a:t>
                      </a:r>
                      <a:r>
                        <a:rPr lang="en-US" sz="3600" dirty="0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IT </a:t>
                      </a:r>
                      <a:r>
                        <a:rPr lang="en-US" sz="3600" dirty="0" err="1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adalah</a:t>
                      </a:r>
                      <a:r>
                        <a:rPr lang="en-US" sz="3600" dirty="0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Kode </a:t>
                      </a:r>
                      <a:r>
                        <a:rPr lang="en-US" sz="3600" dirty="0" err="1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etik</a:t>
                      </a:r>
                      <a:r>
                        <a:rPr lang="en-US" sz="3600" dirty="0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seorang</a:t>
                      </a:r>
                      <a:r>
                        <a:rPr lang="en-US" sz="3600" dirty="0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programmer </a:t>
                      </a:r>
                      <a:r>
                        <a:rPr lang="en-US" sz="3600" dirty="0" err="1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yaitu</a:t>
                      </a:r>
                      <a:r>
                        <a:rPr lang="en-US" sz="3600" dirty="0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sebagai</a:t>
                      </a:r>
                      <a:r>
                        <a:rPr lang="en-US" sz="3600" dirty="0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berikut</a:t>
                      </a:r>
                      <a:r>
                        <a:rPr lang="en-US" sz="3600" dirty="0">
                          <a:solidFill>
                            <a:srgbClr val="2B4B8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</a:t>
                      </a: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9803">
                <a:tc>
                  <a:txBody>
                    <a:bodyPr/>
                    <a:lstStyle/>
                    <a:p>
                      <a:pPr marL="561341" lvl="1" indent="-280670" algn="l">
                        <a:lnSpc>
                          <a:spcPts val="36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Tidak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boleh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memberitahu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masalah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keuangan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pada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pekerja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dalam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pengembangan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suatu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9803">
                <a:tc>
                  <a:txBody>
                    <a:bodyPr/>
                    <a:lstStyle/>
                    <a:p>
                      <a:pPr marL="561341" lvl="1" indent="-280670" algn="l">
                        <a:lnSpc>
                          <a:spcPts val="36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Tidak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boleh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mempermalukan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profesinya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9803">
                <a:tc>
                  <a:txBody>
                    <a:bodyPr/>
                    <a:lstStyle/>
                    <a:p>
                      <a:pPr marL="561341" lvl="1" indent="-280670" algn="l">
                        <a:lnSpc>
                          <a:spcPts val="36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Tidak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boleh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secara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asal-asalan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menyangkal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adanya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bug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dalam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aplikasi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49803">
                <a:tc>
                  <a:txBody>
                    <a:bodyPr/>
                    <a:lstStyle/>
                    <a:p>
                      <a:pPr marL="561341" lvl="1" indent="-280670" algn="l">
                        <a:lnSpc>
                          <a:spcPts val="36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Tidak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boleh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mengenalkan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bug yang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ada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di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dalam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software yang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nantinya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programmer</a:t>
                      </a: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2838">
                <a:tc>
                  <a:txBody>
                    <a:bodyPr/>
                    <a:lstStyle/>
                    <a:p>
                      <a:pPr marL="561341" lvl="1" indent="-280670" algn="l">
                        <a:lnSpc>
                          <a:spcPts val="36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Terus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mengikuti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pada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perkembangan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ilmu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komputer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. Pada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umumnya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, programmer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harus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mematuhi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“Golden Rule”: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Memperlakukan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orang lain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sebagaimana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kamu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ingin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diperlakukan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. Jika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semua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programmer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mematuhi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peraturan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ini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,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maka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tidak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akan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ada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masalah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dalam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2B4B82"/>
                          </a:solidFill>
                          <a:latin typeface="+mn-lt"/>
                        </a:rPr>
                        <a:t>komunitas</a:t>
                      </a:r>
                      <a:r>
                        <a:rPr lang="en-US" sz="2600" dirty="0">
                          <a:solidFill>
                            <a:srgbClr val="2B4B82"/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190500" marR="190500" marT="190500" marB="190500" anchor="ctr">
                    <a:lnL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0779" y="0"/>
            <a:ext cx="11367221" cy="10287000"/>
            <a:chOff x="0" y="0"/>
            <a:chExt cx="29938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93836" cy="2709333"/>
            </a:xfrm>
            <a:custGeom>
              <a:avLst/>
              <a:gdLst/>
              <a:ahLst/>
              <a:cxnLst/>
              <a:rect l="l" t="t" r="r" b="b"/>
              <a:pathLst>
                <a:path w="2993836" h="2709333">
                  <a:moveTo>
                    <a:pt x="0" y="0"/>
                  </a:moveTo>
                  <a:lnTo>
                    <a:pt x="2993836" y="0"/>
                  </a:lnTo>
                  <a:lnTo>
                    <a:pt x="29938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B4B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85800" y="4284290"/>
            <a:ext cx="4876800" cy="171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6399" dirty="0" err="1">
                <a:solidFill>
                  <a:srgbClr val="2B4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Pelanggaran</a:t>
            </a:r>
            <a:r>
              <a:rPr lang="en-US" sz="6399" dirty="0">
                <a:solidFill>
                  <a:srgbClr val="2B4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6399" dirty="0" err="1">
                <a:solidFill>
                  <a:srgbClr val="2B4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Bidang</a:t>
            </a:r>
            <a:r>
              <a:rPr lang="en-US" sz="6399" dirty="0">
                <a:solidFill>
                  <a:srgbClr val="2B4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490855"/>
              </p:ext>
            </p:extLst>
          </p:nvPr>
        </p:nvGraphicFramePr>
        <p:xfrm>
          <a:off x="7391400" y="495300"/>
          <a:ext cx="9867900" cy="13334323"/>
        </p:xfrm>
        <a:graphic>
          <a:graphicData uri="http://schemas.openxmlformats.org/drawingml/2006/table">
            <a:tbl>
              <a:tblPr/>
              <a:tblGrid>
                <a:gridCol w="986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15153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Pasal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27 UU ITE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tahun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2008 :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Setiap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orang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dengan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sengaja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tanpa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hak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mendistribusikan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dan/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atau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mentransmisikan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dan/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atau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membuat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dapat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diaksesnya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informasi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elektronik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dan/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atau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dokumen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elektronik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yang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memiliki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muatan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yang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melanggar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kesusilaan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Ancaman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pidana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pasal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45(1) KUHP.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Pidana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penjara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paling lama 6 (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enam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tahun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dan/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atau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denda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paling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banyak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Rp.1.000.000.000,00 (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satu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miliar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rupiah).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Diatur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pula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dalam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KUHP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pasal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282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mengenai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kejahatan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terhadap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kesusilaan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8369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Pasal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28 UU ITE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tahun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2008 :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Setiap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orang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dengan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sengaja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tanpa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hak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menyebarkan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berita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bohong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menyesatkan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yang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mengakibatkan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kerugian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konsumen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dalam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transaksi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elektronik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15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ts val="3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Pasal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29 UU ITE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tahun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2008 :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Setiap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orang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dengan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sengaja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tanpa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hak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mengirimkan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informasi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elektronik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dan/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atau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dokumen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elektronik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yang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berisi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ancaman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kekerasaan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atau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menakut-nakuti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yang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dutujukkan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secara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pribadi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(Cyber Stalking).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Ancaman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pidana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pasal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45 (3)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Setiap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orang yang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memenuhi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unsur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sebagaimana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dimaksud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dalam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pasal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29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dipidana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dengan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pidana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penjara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paling lama 12 (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belas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tahun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dan/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atau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denda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paling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banyak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Rp. 2.000.000.000,00 (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dua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miliar</a:t>
                      </a:r>
                      <a:r>
                        <a:rPr lang="en-US" sz="2800" dirty="0">
                          <a:solidFill>
                            <a:srgbClr val="FEFEF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rupiah). 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6334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endParaRPr lang="en-US" sz="2400" dirty="0">
                        <a:solidFill>
                          <a:srgbClr val="FEFEFE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1906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ts val="3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dirty="0">
                        <a:solidFill>
                          <a:srgbClr val="FEFEFE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8683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endParaRPr lang="en-US" sz="2400" dirty="0">
                        <a:solidFill>
                          <a:srgbClr val="FEFEFE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125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20779" y="0"/>
            <a:ext cx="11367221" cy="10287000"/>
            <a:chOff x="0" y="0"/>
            <a:chExt cx="29938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93836" cy="2709333"/>
            </a:xfrm>
            <a:custGeom>
              <a:avLst/>
              <a:gdLst/>
              <a:ahLst/>
              <a:cxnLst/>
              <a:rect l="l" t="t" r="r" b="b"/>
              <a:pathLst>
                <a:path w="2993836" h="2709333">
                  <a:moveTo>
                    <a:pt x="0" y="0"/>
                  </a:moveTo>
                  <a:lnTo>
                    <a:pt x="2993836" y="0"/>
                  </a:lnTo>
                  <a:lnTo>
                    <a:pt x="29938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B4B8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85800" y="4284290"/>
            <a:ext cx="4876800" cy="171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6399" dirty="0" err="1">
                <a:solidFill>
                  <a:srgbClr val="2B4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Pelanggaran</a:t>
            </a:r>
            <a:r>
              <a:rPr lang="en-US" sz="6399" dirty="0">
                <a:solidFill>
                  <a:srgbClr val="2B4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6399" dirty="0" err="1">
                <a:solidFill>
                  <a:srgbClr val="2B4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Bidang</a:t>
            </a:r>
            <a:r>
              <a:rPr lang="en-US" sz="6399" dirty="0">
                <a:solidFill>
                  <a:srgbClr val="2B4B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284486"/>
              </p:ext>
            </p:extLst>
          </p:nvPr>
        </p:nvGraphicFramePr>
        <p:xfrm>
          <a:off x="7391400" y="1"/>
          <a:ext cx="9867900" cy="13538330"/>
        </p:xfrm>
        <a:graphic>
          <a:graphicData uri="http://schemas.openxmlformats.org/drawingml/2006/table">
            <a:tbl>
              <a:tblPr/>
              <a:tblGrid>
                <a:gridCol w="986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8616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Pasal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30 UU ITE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tahun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2008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ayat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3 :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Setiap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orang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dengan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sengaja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dan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tanpa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hak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atau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melawan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hukum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mengakses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computer dan/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atau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system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elektronik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dengan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cara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apapun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dengan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melanggar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menerobos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melampaui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atau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menjebol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system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pengaman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(cracking, hacking, illegal access).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Ancaman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pidana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pasal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46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ayat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3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setiap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orang yang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memebuhi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unsure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sebagaimana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dimaksud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dalam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pasal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30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ayat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3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dipidana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dengan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pidana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penjara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paling lama 8 (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delapan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) dan/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atau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denda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paling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banyak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Rp. 800.000.00,00 (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delapan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ratus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juta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rupiah).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9856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Pasal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33 UU ITE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tahun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2008 :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Setiap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orang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dengan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sengaja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dan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tanpa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hak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atau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melawan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hukum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melakukan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tindakan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apa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pun yang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berakibat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terganggunya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system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elektronik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dan/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atau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mengakibatkan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system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elektronik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menjadi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tidak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bekerja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sebagaiman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mestinya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endParaRPr lang="en-US" sz="2400" dirty="0">
                        <a:solidFill>
                          <a:srgbClr val="FEFEFE"/>
                        </a:solidFill>
                        <a:latin typeface="+mn-lt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ts val="3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Pasal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34 UU ITE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tahun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2008 :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Setiap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orang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dengan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sengaja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dan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tanpa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hak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atau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melawan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hukum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memproduksi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menjual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mengadakan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untuk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digunakan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mengimpor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mendistribusikan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menyediakan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atau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memiliki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.</a:t>
                      </a:r>
                    </a:p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endParaRPr lang="en-US" sz="2400" dirty="0">
                        <a:solidFill>
                          <a:srgbClr val="FEFEFE"/>
                        </a:solidFill>
                        <a:latin typeface="+mn-lt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ts val="3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Pasal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35 UU ITE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tahun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2008 :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Setiap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orang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dengan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sengaja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dan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tanpa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hak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atau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melawan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hukum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melakukan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manipulasi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penciptaan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perubahan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penghilangan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,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pengrusakan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informasi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elektronik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dan/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atau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dokumen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elektronik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dengan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tujuan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agar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informasi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elektronik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dan/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atau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dokumen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elektronik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tersebut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seolah-olah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data yang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otentik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(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Phising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= </a:t>
                      </a:r>
                      <a:r>
                        <a:rPr lang="en-US" sz="2400" dirty="0" err="1">
                          <a:solidFill>
                            <a:srgbClr val="FEFEFE"/>
                          </a:solidFill>
                          <a:latin typeface="+mn-lt"/>
                        </a:rPr>
                        <a:t>penipuan</a:t>
                      </a:r>
                      <a:r>
                        <a:rPr lang="en-US" sz="2400" dirty="0">
                          <a:solidFill>
                            <a:srgbClr val="FEFEFE"/>
                          </a:solidFill>
                          <a:latin typeface="+mn-lt"/>
                        </a:rPr>
                        <a:t> situs).</a:t>
                      </a:r>
                    </a:p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endParaRPr lang="en-US" sz="2400" dirty="0">
                        <a:solidFill>
                          <a:srgbClr val="FEFEFE"/>
                        </a:solidFill>
                        <a:latin typeface="+mn-lt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03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322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endParaRPr lang="en-US" sz="2400" dirty="0">
                        <a:solidFill>
                          <a:srgbClr val="FEFEFE"/>
                        </a:solidFill>
                        <a:latin typeface="+mn-lt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18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322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endParaRPr lang="en-US" sz="2400" dirty="0">
                        <a:solidFill>
                          <a:srgbClr val="FEFEFE"/>
                        </a:solidFill>
                        <a:latin typeface="+mn-lt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05"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ts val="3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dirty="0">
                        <a:solidFill>
                          <a:srgbClr val="FEFEFE"/>
                        </a:solidFill>
                        <a:latin typeface="+mn-lt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05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22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endParaRPr lang="en-US" sz="2400" dirty="0">
                        <a:solidFill>
                          <a:srgbClr val="FEFEFE"/>
                        </a:solidFill>
                        <a:latin typeface="+mn-lt"/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DD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1633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1431</Words>
  <Application>Microsoft Office PowerPoint</Application>
  <PresentationFormat>Custom</PresentationFormat>
  <Paragraphs>68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Clear Sans Regular</vt:lpstr>
      <vt:lpstr>Arial</vt:lpstr>
      <vt:lpstr>Calibri</vt:lpstr>
      <vt:lpstr>Clear Sans Bold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 Education Technology Presentation in Blue Peach Illustrative Style</dc:title>
  <cp:lastModifiedBy>Dena Astia</cp:lastModifiedBy>
  <cp:revision>5</cp:revision>
  <dcterms:created xsi:type="dcterms:W3CDTF">2006-08-16T00:00:00Z</dcterms:created>
  <dcterms:modified xsi:type="dcterms:W3CDTF">2023-05-30T04:18:30Z</dcterms:modified>
  <dc:identifier>DAFkWEw18eA</dc:identifier>
</cp:coreProperties>
</file>